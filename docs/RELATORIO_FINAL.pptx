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ro_simb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02920"/>
            <a:ext cx="237744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063240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7A1A"/>
                </a:solidFill>
                <a:latin typeface="Calibri"/>
              </a:rPr>
              <a:t>Relatório Final · Desafio Quant AI 2026 (Itaú Asset)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11880"/>
            <a:ext cx="347472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BFAF7"/>
                </a:solidFill>
                <a:latin typeface="Calibri"/>
              </a:rPr>
              <a:t>Por que CORO? </a:t>
            </a:r>
            <a:r>
              <a:rPr sz="1300" b="0">
                <a:solidFill>
                  <a:srgbClr val="FBFAF7"/>
                </a:solidFill>
                <a:latin typeface="Calibri"/>
              </a:rPr>
              <a:t>Numa earnings call, os executivos formam um coro que ensaia uma mensagem única. O robô mede o desalinhamento dessas vozes, a Tone Distance (TD). Quando o coro desafina, há informação.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8FB4BD"/>
                </a:solidFill>
                <a:latin typeface="Calibri"/>
              </a:rPr>
              <a:t>33.362 calls · 685 empresas · S&amp;P 500, 2005–2025 · dois sensores de tom (dicionário LM e FinBERT)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502920"/>
            <a:ext cx="7223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2E36"/>
                </a:solidFill>
                <a:latin typeface="Calibri"/>
              </a:rPr>
              <a:t>A tese de investimento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051560"/>
            <a:ext cx="722376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A2C"/>
                </a:solidFill>
                <a:latin typeface="Calibri"/>
              </a:rPr>
              <a:t>A divergência de tom entre os gestores da mesma call é informação precificada, em dois tempos: o mercado penaliza no anúncio e paga prêmio a quem carrega a empresa divergente depois.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240280"/>
            <a:ext cx="7223760" cy="132588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50008"/>
            <a:ext cx="1920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E8620A"/>
                </a:solidFill>
                <a:latin typeface="Calibri"/>
              </a:rPr>
              <a:t>t = −2,8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F2E36"/>
                </a:solidFill>
                <a:latin typeface="Calibri"/>
              </a:rPr>
              <a:t>O anúncio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31720"/>
            <a:ext cx="4800600" cy="11704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A2C"/>
                </a:solidFill>
                <a:latin typeface="Calibri"/>
              </a:rPr>
              <a:t>Empresas cujos gestores divergem sofrem retorno anormal menor no dia (painel com efeitos fixos, 23,6 mil eventos; confirmado nos dois sensores).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721608"/>
            <a:ext cx="7223760" cy="132588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831336"/>
            <a:ext cx="1920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E8620A"/>
                </a:solidFill>
                <a:latin typeface="Calibri"/>
              </a:rPr>
              <a:t>+20,4% a.a.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F2E36"/>
                </a:solidFill>
                <a:latin typeface="Calibri"/>
              </a:rPr>
              <a:t>A carteira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813048"/>
            <a:ext cx="4800600" cy="11704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A2C"/>
                </a:solidFill>
                <a:latin typeface="Calibri"/>
              </a:rPr>
              <a:t>Top-10 por TD, rebalanceada todo mês, contra +13,2% do S&amp;P 500 em 199 meses (fev/2009 a ago/2025), líquida de custos: +19,4%.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5202936"/>
            <a:ext cx="7223760" cy="132588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5312664"/>
            <a:ext cx="1920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E8620A"/>
                </a:solidFill>
                <a:latin typeface="Calibri"/>
              </a:rPr>
              <a:t>t = +3,58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F2E36"/>
                </a:solidFill>
                <a:latin typeface="Calibri"/>
              </a:rPr>
              <a:t>O aviso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294376"/>
            <a:ext cx="4800600" cy="11704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A2C"/>
                </a:solidFill>
                <a:latin typeface="Calibri"/>
              </a:rPr>
              <a:t>A TD de hoje antecipa a magnitude da surpresa do próximo lucro (fora da amostra, 71% de acerto): termômetro de incerteza pré-anúncio.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6510528"/>
            <a:ext cx="72237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E8A96"/>
                </a:solidFill>
                <a:latin typeface="Calibri"/>
              </a:rPr>
              <a:t>O relatório também documenta o que reprovou: a hipótese de risco caiu na validação temporal e foi descartada.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5156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BFAF7"/>
                </a:solidFill>
                <a:latin typeface="Calibri"/>
              </a:rPr>
              <a:t>Como o CORO decide: dados, sinal e regra de saída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45720"/>
            <a:ext cx="777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E8A96"/>
                </a:solidFill>
                <a:latin typeface="Calibri"/>
              </a:rPr>
              <a:t>2/5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1C4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60120"/>
            <a:ext cx="1609344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7A1A"/>
                </a:solidFill>
                <a:latin typeface="Calibri"/>
              </a:rPr>
              <a:t>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61872"/>
            <a:ext cx="1609344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BFAF7"/>
                </a:solidFill>
                <a:latin typeface="Calibri"/>
              </a:rPr>
              <a:t>33.362 transcrições de earnings calls (S&amp;P 500, 2005–2025, inclui deslistadas)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1417320"/>
            <a:ext cx="228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620A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8686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1C4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960120"/>
            <a:ext cx="1609344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7A1A"/>
                </a:solidFill>
                <a:latin typeface="Calibri"/>
              </a:rPr>
              <a:t>PAPÉIS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261872"/>
            <a:ext cx="1609344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BFAF7"/>
                </a:solidFill>
                <a:latin typeface="Calibri"/>
              </a:rPr>
              <a:t>LLM + regras separam gestores de analistas: 12.678 cabeçalhos, 90% de acerto auditado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1417320"/>
            <a:ext cx="228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620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8686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1C4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960120"/>
            <a:ext cx="1609344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7A1A"/>
                </a:solidFill>
                <a:latin typeface="Calibri"/>
              </a:rPr>
              <a:t>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261872"/>
            <a:ext cx="1609344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BFAF7"/>
                </a:solidFill>
                <a:latin typeface="Calibri"/>
              </a:rPr>
              <a:t>Cada fala medida por 2 sensores independentes: dicionário LM e FinBERT (contexto)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1417320"/>
            <a:ext cx="228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620A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8686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960120"/>
            <a:ext cx="1609344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7A1A"/>
                </a:solidFill>
                <a:latin typeface="Calibri"/>
              </a:rPr>
              <a:t>SINAL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261872"/>
            <a:ext cx="1609344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BFAF7"/>
                </a:solidFill>
                <a:latin typeface="Calibri"/>
              </a:rPr>
              <a:t>TD = dispersão de tom entre os gestores da call: TD = (1/N) Σ ‖g(i) − c‖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417320"/>
            <a:ext cx="228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620A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8686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1C4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960120"/>
            <a:ext cx="1609344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7A1A"/>
                </a:solidFill>
                <a:latin typeface="Calibri"/>
              </a:rPr>
              <a:t>ESCORE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1261872"/>
            <a:ext cx="1609344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BFAF7"/>
                </a:solidFill>
                <a:latin typeface="Calibri"/>
              </a:rPr>
              <a:t>Um número por empresa-trimestre, pronto minutos após a transcrição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1417320"/>
            <a:ext cx="228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8620A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8686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1008" y="960120"/>
            <a:ext cx="1609344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7A1A"/>
                </a:solidFill>
                <a:latin typeface="Calibri"/>
              </a:rPr>
              <a:t>DECISÃO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1008" y="1261872"/>
            <a:ext cx="1609344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BFAF7"/>
                </a:solidFill>
                <a:latin typeface="Calibri"/>
              </a:rPr>
              <a:t>Carteira: compra as 10 maiores TD, pesos iguais, rebalanceamento mensal, 10 bps por lado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2743200"/>
            <a:ext cx="7406640" cy="178308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852928"/>
            <a:ext cx="6949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E36"/>
                </a:solidFill>
                <a:latin typeface="Calibri"/>
              </a:rPr>
              <a:t>O detalhe que virou o sinal: como definir o centro da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200400"/>
            <a:ext cx="69494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22A2C"/>
                </a:solidFill>
                <a:latin typeface="Calibri"/>
              </a:rPr>
              <a:t>Na média simples, cada orador pesa igual: numa call da Apple (2020), um orador de 283 palavras, cujas únicas 6 negativas eram o aviso legal, pesava 1/3 do sinal. </a:t>
            </a:r>
            <a:r>
              <a:rPr sz="1150" b="1">
                <a:solidFill>
                  <a:srgbClr val="E8620A"/>
                </a:solidFill>
                <a:latin typeface="Calibri"/>
              </a:rPr>
              <a:t>Ponderar pelo volume de fala separa sinal de ruído</a:t>
            </a:r>
            <a:r>
              <a:rPr sz="1150" b="0">
                <a:solidFill>
                  <a:srgbClr val="222A2C"/>
                </a:solidFill>
                <a:latin typeface="Calibri"/>
              </a:rPr>
              <a:t> e é o que faz a hipótese aparecer (Seção de resultados). Implementação verificada por reimplementação independente nas 32.387 calls elegíveis (diferença máxima ~10⁻¹⁶).</a:t>
            </a:r>
          </a:p>
        </p:txBody>
      </p:sp>
      <p:pic>
        <p:nvPicPr>
          <p:cNvPr id="31" name="Picture 30" descr="coro_masc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743200"/>
            <a:ext cx="2148840" cy="21488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74320" y="4709160"/>
            <a:ext cx="7406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E36"/>
                </a:solidFill>
                <a:latin typeface="Calibri"/>
              </a:rPr>
              <a:t>Três hipóteses registradas antes dos testes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07492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75504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E36"/>
                </a:solidFill>
                <a:latin typeface="Calibri"/>
              </a:rPr>
              <a:t>H1 · precificação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3383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A2C"/>
                </a:solidFill>
                <a:latin typeface="Calibri"/>
              </a:rPr>
              <a:t>maior TD, menor o retorno anormal no anúncio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08192"/>
            <a:ext cx="3383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CONFIRMADA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87952" y="507492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2" y="5175504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E36"/>
                </a:solidFill>
                <a:latin typeface="Calibri"/>
              </a:rPr>
              <a:t>H3 · incerteza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5486400"/>
            <a:ext cx="3383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A2C"/>
                </a:solidFill>
                <a:latin typeface="Calibri"/>
              </a:rPr>
              <a:t>maior TD, mais imprevisível o próximo resultado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6108192"/>
            <a:ext cx="3383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CONFIRMADA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01584" y="507492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5175504"/>
            <a:ext cx="33832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E36"/>
                </a:solidFill>
                <a:latin typeface="Calibri"/>
              </a:rPr>
              <a:t>H2 · risco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5486400"/>
            <a:ext cx="3383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A2C"/>
                </a:solidFill>
                <a:latin typeface="Calibri"/>
              </a:rPr>
              <a:t>maior TD, maior a volatilidade futura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4464" y="6108192"/>
            <a:ext cx="3383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33A3A"/>
                </a:solidFill>
                <a:latin typeface="Calibri"/>
              </a:rPr>
              <a:t>DESCARTADA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5156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BFAF7"/>
                </a:solidFill>
                <a:latin typeface="Calibri"/>
              </a:rPr>
              <a:t>Resultados: a hipótese sobrevive à troca do sensor de 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45720"/>
            <a:ext cx="777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E8A96"/>
                </a:solidFill>
                <a:latin typeface="Calibri"/>
              </a:rPr>
              <a:t>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5852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2E36"/>
                </a:solidFill>
                <a:latin typeface="Calibri"/>
              </a:rPr>
              <a:t>Estatística t da TD sobre o CAR do anúncio (janelas 1/2/5 pregões)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43000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69164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BFAF7"/>
                          </a:solidFill>
                        </a:rPr>
                        <a:t>construção do sinal</a:t>
                      </a:r>
                    </a:p>
                  </a:txBody>
                  <a:tcPr>
                    <a:solidFill>
                      <a:srgbClr val="0F2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BFAF7"/>
                          </a:solidFill>
                        </a:rPr>
                        <a:t>LM (dicionário)</a:t>
                      </a:r>
                    </a:p>
                  </a:txBody>
                  <a:tcPr>
                    <a:solidFill>
                      <a:srgbClr val="0F2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BFAF7"/>
                          </a:solidFill>
                        </a:rPr>
                        <a:t>FinBERT (neural)</a:t>
                      </a:r>
                    </a:p>
                  </a:txBody>
                  <a:tcPr>
                    <a:solidFill>
                      <a:srgbClr val="0F2E3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A2C"/>
                          </a:solidFill>
                        </a:rPr>
                        <a:t>centro = média simples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2C"/>
                          </a:solidFill>
                        </a:rPr>
                        <a:t>−0,7 / −0,7 / −0,4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2C"/>
                          </a:solidFill>
                        </a:rPr>
                        <a:t>+0,1 / −0,3 / −0,5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A2C"/>
                          </a:solidFill>
                        </a:rPr>
                        <a:t>centro = tom agregado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2C"/>
                          </a:solidFill>
                        </a:rPr>
                        <a:t>−2,0 / −2,1 / −1,7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2C"/>
                          </a:solidFill>
                        </a:rPr>
                        <a:t>−1,9 / −2,3 / −2,3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2C"/>
                          </a:solidFill>
                        </a:rPr>
                        <a:t>ponderada pelo volume de fala</a:t>
                      </a:r>
                    </a:p>
                  </a:txBody>
                  <a:tcPr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A2C"/>
                          </a:solidFill>
                        </a:rPr>
                        <a:t>−2,8 / −2,7 / −2,3</a:t>
                      </a:r>
                    </a:p>
                  </a:txBody>
                  <a:tcPr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A2C"/>
                          </a:solidFill>
                        </a:rPr>
                        <a:t>−2,3 / −2,4 / −2,5</a:t>
                      </a:r>
                    </a:p>
                  </a:txBody>
                  <a:tcPr>
                    <a:solidFill>
                      <a:srgbClr val="F1ECE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017520"/>
            <a:ext cx="585216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Como ler: </a:t>
            </a:r>
            <a:r>
              <a:rPr sz="1150" b="0">
                <a:solidFill>
                  <a:srgbClr val="222A2C"/>
                </a:solidFill>
                <a:latin typeface="Calibri"/>
              </a:rPr>
              <a:t>a hipótese confirma quando o sinal respeita o volume de fala; o enfraquecimento de baixo para cima mostra o custo de dar peso a oradores marginais. Dois sensores que concordam em só 38% chegam ao mesmo desenho. Efeito: 0,11% a 0,16% por variação interquartil.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777240"/>
            <a:ext cx="548640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8620A"/>
                </a:solidFill>
                <a:latin typeface="Calibri"/>
              </a:rPr>
              <a:t>▪ </a:t>
            </a:r>
            <a:r>
              <a:rPr sz="1200" b="1">
                <a:solidFill>
                  <a:srgbClr val="222A2C"/>
                </a:solidFill>
                <a:latin typeface="Calibri"/>
              </a:rPr>
              <a:t>Retornos subsequentes: </a:t>
            </a:r>
            <a:r>
              <a:rPr sz="1200" b="0">
                <a:solidFill>
                  <a:srgbClr val="222A2C"/>
                </a:solidFill>
                <a:latin typeface="Calibri"/>
              </a:rPr>
              <a:t>o retorno dos 3 meses após a call cresce com a TD (t=+2,0 nos dois sensores). O mercado penaliza no anúncio e cobra prêmio para carregar: compensação por risco.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8620A"/>
                </a:solidFill>
                <a:latin typeface="Calibri"/>
              </a:rPr>
              <a:t>▪ </a:t>
            </a:r>
            <a:r>
              <a:rPr sz="1200" b="1">
                <a:solidFill>
                  <a:srgbClr val="222A2C"/>
                </a:solidFill>
                <a:latin typeface="Calibri"/>
              </a:rPr>
              <a:t>H3, o resultado preditivo mais forte: </a:t>
            </a:r>
            <a:r>
              <a:rPr sz="1200" b="0">
                <a:solidFill>
                  <a:srgbClr val="222A2C"/>
                </a:solidFill>
                <a:latin typeface="Calibri"/>
              </a:rPr>
              <a:t>|surpresa| do próximo lucro cresce com a TD (t=+2,5 no painel; t=+3,58 fora da amostra, 71% de acerto em 49 trimestres).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8620A"/>
                </a:solidFill>
                <a:latin typeface="Calibri"/>
              </a:rPr>
              <a:t>▪ </a:t>
            </a:r>
            <a:r>
              <a:rPr sz="1200" b="1">
                <a:solidFill>
                  <a:srgbClr val="222A2C"/>
                </a:solidFill>
                <a:latin typeface="Calibri"/>
              </a:rPr>
              <a:t>Robustez temporal: </a:t>
            </a:r>
            <a:r>
              <a:rPr sz="1200" b="0">
                <a:solidFill>
                  <a:srgbClr val="222A2C"/>
                </a:solidFill>
                <a:latin typeface="Calibri"/>
              </a:rPr>
              <a:t>reestimando só com o passado em cada corte, H1 mantém sinal negativo em todos; previsão fora da amostra t=−2,12, negativa em cada ano de 2019 a 2025.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60520"/>
            <a:ext cx="11658600" cy="233172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279392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E36"/>
                </a:solidFill>
                <a:latin typeface="Calibri"/>
              </a:rPr>
              <a:t>Por que descartamos a H2 (e por que isso valida o método)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111556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A associação existe na amostra cheia (t=+2,5), mas é eco: </a:t>
            </a:r>
            <a:r>
              <a:rPr sz="1150" b="0">
                <a:solidFill>
                  <a:srgbClr val="222A2C"/>
                </a:solidFill>
                <a:latin typeface="Calibri"/>
              </a:rPr>
              <a:t>janelas de volatilidade que começam no dia +1 ainda contêm a reação ao próprio anúncio, que é a H1. Fora do eco, t=+1,3.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Nenhuma das 16 especificações predefinidas prevê </a:t>
            </a:r>
            <a:r>
              <a:rPr sz="1150" b="0">
                <a:solidFill>
                  <a:srgbClr val="222A2C"/>
                </a:solidFill>
                <a:latin typeface="Calibri"/>
              </a:rPr>
              <a:t>(com/sem eco, 2 horizontes, nível/log, 2 construções); fora da amostra, t=+0,27. A TD não diz sobre risco nada que a vol passada não diga.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O mesmo protocolo que valida H1 e H3 reprova a H2: </a:t>
            </a:r>
            <a:r>
              <a:rPr sz="1150" b="0">
                <a:solidFill>
                  <a:srgbClr val="222A2C"/>
                </a:solidFill>
                <a:latin typeface="Calibri"/>
              </a:rPr>
              <a:t>o critério não é complacente. Em amostra cheia as três pareciam certas; só a validação temporal separou efeito real de artefato.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5156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BFAF7"/>
                </a:solidFill>
                <a:latin typeface="Calibri"/>
              </a:rPr>
              <a:t>Backtest: executado com regra fixa, auditado contra vieses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45720"/>
            <a:ext cx="777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E8A96"/>
                </a:solidFill>
                <a:latin typeface="Calibri"/>
              </a:rPr>
              <a:t>4/5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777240"/>
          <a:ext cx="6949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24128"/>
                <a:gridCol w="1024128"/>
                <a:gridCol w="1024128"/>
                <a:gridCol w="1024128"/>
                <a:gridCol w="1024128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BFAF7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F2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BFAF7"/>
                          </a:solidFill>
                        </a:rPr>
                        <a:t>Top-10 TD bruto</a:t>
                      </a:r>
                    </a:p>
                  </a:txBody>
                  <a:tcPr>
                    <a:solidFill>
                      <a:srgbClr val="0F2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BFAF7"/>
                          </a:solidFill>
                        </a:rPr>
                        <a:t>Top-10 líquido</a:t>
                      </a:r>
                    </a:p>
                  </a:txBody>
                  <a:tcPr>
                    <a:solidFill>
                      <a:srgbClr val="0F2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BFAF7"/>
                          </a:solidFill>
                        </a:rPr>
                        <a:t>Bottom-10</a:t>
                      </a:r>
                    </a:p>
                  </a:txBody>
                  <a:tcPr>
                    <a:solidFill>
                      <a:srgbClr val="0F2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BFAF7"/>
                          </a:solidFill>
                        </a:rPr>
                        <a:t>Universo EW</a:t>
                      </a:r>
                    </a:p>
                  </a:txBody>
                  <a:tcPr>
                    <a:solidFill>
                      <a:srgbClr val="0F2E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BFAF7"/>
                          </a:solidFill>
                        </a:rPr>
                        <a:t>S&amp;P 500</a:t>
                      </a:r>
                    </a:p>
                  </a:txBody>
                  <a:tcPr>
                    <a:solidFill>
                      <a:srgbClr val="0F2E3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2C"/>
                          </a:solidFill>
                        </a:rPr>
                        <a:t>Retorno acumulado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A2C"/>
                          </a:solidFill>
                        </a:rPr>
                        <a:t>+2.061%</a:t>
                      </a:r>
                    </a:p>
                  </a:txBody>
                  <a:tcPr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+1.783%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+959%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+1.208%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+682%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2C"/>
                          </a:solidFill>
                        </a:rPr>
                        <a:t>Retorno ao ano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A2C"/>
                          </a:solidFill>
                        </a:rPr>
                        <a:t>+20,4%</a:t>
                      </a:r>
                    </a:p>
                  </a:txBody>
                  <a:tcPr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+19,4%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+15,3%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+16,8%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+13,2%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2C"/>
                          </a:solidFill>
                        </a:rPr>
                        <a:t>Volatilidade a.a.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A2C"/>
                          </a:solidFill>
                        </a:rPr>
                        <a:t>20,6%</a:t>
                      </a:r>
                    </a:p>
                  </a:txBody>
                  <a:tcPr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20,6%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17,4%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17,3%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14,9%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2C"/>
                          </a:solidFill>
                        </a:rPr>
                        <a:t>Sharpe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A2C"/>
                          </a:solidFill>
                        </a:rPr>
                        <a:t>1,01</a:t>
                      </a:r>
                    </a:p>
                  </a:txBody>
                  <a:tcPr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0,96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0,91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0,99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0,91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2C"/>
                          </a:solidFill>
                        </a:rPr>
                        <a:t>Drawdown máximo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2A2C"/>
                          </a:solidFill>
                        </a:rPr>
                        <a:t>−29%</a:t>
                      </a:r>
                    </a:p>
                  </a:txBody>
                  <a:tcPr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−29%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−27%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−27%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2C"/>
                          </a:solidFill>
                        </a:rPr>
                        <a:t>−25%</a:t>
                      </a:r>
                    </a:p>
                  </a:txBody>
                  <a:tcPr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127248"/>
            <a:ext cx="6949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E8A96"/>
                </a:solidFill>
                <a:latin typeface="Calibri"/>
              </a:rPr>
              <a:t>199 meses (fev/2009 a ago/2025) · giro médio 35%/mês · composições verificáveis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777240"/>
            <a:ext cx="4572000" cy="2651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Contra o S&amp;P 500: </a:t>
            </a:r>
            <a:r>
              <a:rPr sz="1150" b="0">
                <a:solidFill>
                  <a:srgbClr val="222A2C"/>
                </a:solidFill>
                <a:latin typeface="Calibri"/>
              </a:rPr>
              <a:t>+7,1% a.a. (t=2,60), vitória em 58% dos meses e 11 de 17 anos.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Contra a régua justa </a:t>
            </a:r>
            <a:r>
              <a:rPr sz="1150" b="0">
                <a:solidFill>
                  <a:srgbClr val="222A2C"/>
                </a:solidFill>
                <a:latin typeface="Calibri"/>
              </a:rPr>
              <a:t>(universo elegível em pesos iguais): +3,6% a.a. (t=1,59), positivo em todos os subperíodos; sem significância isolada porque 10 ativos concentram ruído.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Cenários: </a:t>
            </a:r>
            <a:r>
              <a:rPr sz="1150" b="0">
                <a:solidFill>
                  <a:srgbClr val="222A2C"/>
                </a:solidFill>
                <a:latin typeface="Calibri"/>
              </a:rPr>
              <a:t>brilha em estresse e recuperação (2018: +0,4% vs −6,2%; 2022: −14,1% vs −19,4%); fica atrás em altas amplas (2016, 2021).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Sharpe 1,01 vs 0,99 do universo: </a:t>
            </a:r>
            <a:r>
              <a:rPr sz="1150" b="0">
                <a:solidFill>
                  <a:srgbClr val="222A2C"/>
                </a:solidFill>
                <a:latin typeface="Calibri"/>
              </a:rPr>
              <a:t>o retorno extra remunera risco extra. Prêmio de compensação, não anomalia gratuita.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611880"/>
            <a:ext cx="11658600" cy="288036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730752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E36"/>
                </a:solidFill>
                <a:latin typeface="Calibri"/>
              </a:rPr>
              <a:t>Defesas contra vieses (por construção, não por promessa)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1115568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Look-ahead: </a:t>
            </a:r>
            <a:r>
              <a:rPr sz="1150" b="0">
                <a:solidFill>
                  <a:srgbClr val="222A2C"/>
                </a:solidFill>
                <a:latin typeface="Calibri"/>
              </a:rPr>
              <a:t>os scripts auditam, mês a mês, que nenhuma call usada é posterior ao início do mês investido; fundamentos entram pela data de protocolo; calls pós-fechamento (26%) ancoradas no pregão seguinte.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Overfitting: </a:t>
            </a:r>
            <a:r>
              <a:rPr sz="1150" b="0">
                <a:solidFill>
                  <a:srgbClr val="222A2C"/>
                </a:solidFill>
                <a:latin typeface="Calibri"/>
              </a:rPr>
              <a:t>especificação do long-short congelada antes de rodar; período completo 2006–2025 sem seleção; todas as 6 construções contadas para ajuste de múltiplos testes (Deflated Sharpe); hipóteses registradas antes dos testes.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Sobrevivência: </a:t>
            </a:r>
            <a:r>
              <a:rPr sz="1150" b="0">
                <a:solidFill>
                  <a:srgbClr val="222A2C"/>
                </a:solidFill>
                <a:latin typeface="Calibri"/>
              </a:rPr>
              <a:t>universo inclui as empresas que saíram do índice; a limitação restante (~3 mil eventos sem preço de deslistadas) é declarada.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Long-short por quintis (contraprova): </a:t>
            </a:r>
            <a:r>
              <a:rPr sz="1150" b="0">
                <a:solidFill>
                  <a:srgbClr val="222A2C"/>
                </a:solidFill>
                <a:latin typeface="Calibri"/>
              </a:rPr>
              <a:t>não monetiza (melhor Sharpe 0,22 vs 0,53 do mercado): a ponta FinBERT embute fator de baixa vol; por isso a proposta é tilt comprado, não long-short.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5156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BFAF7"/>
                </a:solidFill>
                <a:latin typeface="Calibri"/>
              </a:rPr>
              <a:t>IA generativa no processo · 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45720"/>
            <a:ext cx="777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E8A96"/>
                </a:solidFill>
                <a:latin typeface="Calibri"/>
              </a:rPr>
              <a:t>5/5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5715000" cy="416052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5257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E36"/>
                </a:solidFill>
                <a:latin typeface="Calibri"/>
              </a:rPr>
              <a:t>GenAI aplicada, com validação e custo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257800" cy="3566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No núcleo do pipeline (código e dados): </a:t>
            </a:r>
            <a:r>
              <a:rPr sz="1150" b="0">
                <a:solidFill>
                  <a:srgbClr val="222A2C"/>
                </a:solidFill>
                <a:latin typeface="Calibri"/>
              </a:rPr>
              <a:t>um LLM via linha de comando (claude -p, modelo Haiku) classificou os 12.678 cabeçalhos de orador em lotes (~4,6h), com cache versionado e reprocessamento determinístico.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Validação do uso: </a:t>
            </a:r>
            <a:r>
              <a:rPr sz="1150" b="0">
                <a:solidFill>
                  <a:srgbClr val="222A2C"/>
                </a:solidFill>
                <a:latin typeface="Calibri"/>
              </a:rPr>
              <a:t>matriz de confusão contra 292 rótulos manuais (90% de acerto) e classificador determinístico independente (99% de concordância nos casos frequentes); prompt e custos documentados.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Par de engenharia e auditoria: </a:t>
            </a:r>
            <a:r>
              <a:rPr sz="1150" b="0">
                <a:solidFill>
                  <a:srgbClr val="222A2C"/>
                </a:solidFill>
                <a:latin typeface="Calibri"/>
              </a:rPr>
              <a:t>o assistente apoiou arquitetura, código, testes e a auditoria da fórmula do centro da call; decisões econômicas sempre da equipe.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Honestidade conceitual: </a:t>
            </a:r>
            <a:r>
              <a:rPr sz="1150" b="0">
                <a:solidFill>
                  <a:srgbClr val="222A2C"/>
                </a:solidFill>
                <a:latin typeface="Calibri"/>
              </a:rPr>
              <a:t>o FinBERT é modelo encoder de classificação: contabilizado como NLP/ML, não como IA generativa.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777240"/>
            <a:ext cx="5715000" cy="4160520"/>
          </a:xfrm>
          <a:prstGeom prst="roundRect">
            <a:avLst>
              <a:gd name="adj" fmla="val 8000"/>
            </a:avLst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896112"/>
            <a:ext cx="5257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E36"/>
                </a:solidFill>
                <a:latin typeface="Calibri"/>
              </a:rPr>
              <a:t>O que aprendemos e para onde vamos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257800" cy="3566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Aprendizado central: </a:t>
            </a:r>
            <a:r>
              <a:rPr sz="1150" b="0">
                <a:solidFill>
                  <a:srgbClr val="222A2C"/>
                </a:solidFill>
                <a:latin typeface="Calibri"/>
              </a:rPr>
              <a:t>em amostra completa, as três hipóteses pareciam confirmadas; foi a robustez temporal que separou os efeitos reais (H1, H3, prêmio) do artefato (H2). Validar no tempo é o ativo metodológico do projeto.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A tese que fica: </a:t>
            </a:r>
            <a:r>
              <a:rPr sz="1150" b="0">
                <a:solidFill>
                  <a:srgbClr val="222A2C"/>
                </a:solidFill>
                <a:latin typeface="Calibri"/>
              </a:rPr>
              <a:t>divergência de tom é precificada em dois tempos: penalidade no anúncio e prêmio de compensação depois (+20,4% vs +13,2% a.a.), com o mesmo escore antecipando a surpresa do próximo lucro.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E8620A"/>
                </a:solidFill>
                <a:latin typeface="Calibri"/>
              </a:rPr>
              <a:t>▪ </a:t>
            </a:r>
            <a:r>
              <a:rPr sz="1150" b="1">
                <a:solidFill>
                  <a:srgbClr val="222A2C"/>
                </a:solidFill>
                <a:latin typeface="Calibri"/>
              </a:rPr>
              <a:t>Próximos passos: </a:t>
            </a:r>
            <a:r>
              <a:rPr sz="1150" b="0">
                <a:solidFill>
                  <a:srgbClr val="222A2C"/>
                </a:solidFill>
                <a:latin typeface="Calibri"/>
              </a:rPr>
              <a:t>integração multifator do escore com Deflated Sharpe; diversificação além de 10 nomes, sensibilidade a custos e decaimento; small/mid caps com o pré-registro já versionado (teste piloto inconclusivo por potência; efeito segue nas large caps no mesmo período, t=−1,96).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120640"/>
            <a:ext cx="11658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20A"/>
                </a:solidFill>
                <a:latin typeface="Calibri"/>
              </a:rPr>
              <a:t>Reprodutibilidade: </a:t>
            </a:r>
            <a:r>
              <a:rPr sz="1200" b="0">
                <a:solidFill>
                  <a:srgbClr val="222A2C"/>
                </a:solidFill>
                <a:latin typeface="Calibri"/>
              </a:rPr>
              <a:t>todos os números saem de scripts versionados, reproduzidos em clone limpo e revalidados na data da entrega; nenhum número digitado à mão. Código, dados e documentação à disposição da banca mediante solicitação.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806440"/>
            <a:ext cx="11658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F2E36"/>
                </a:solidFill>
                <a:latin typeface="Calibri"/>
              </a:rPr>
              <a:t>Referências essenciais: </a:t>
            </a:r>
            <a:r>
              <a:rPr sz="1050" b="0">
                <a:solidFill>
                  <a:srgbClr val="5E8A96"/>
                </a:solidFill>
                <a:latin typeface="Calibri"/>
              </a:rPr>
              <a:t>Angelo, Johnston, Singh e Wan (2025, The Financial Review); Loughran e McDonald (2011, JF); Huang, Teoh e Zhang (2014, TAR); Lee (2016, TAR); Yang, Uy e Huang (2020, FinBERT); Bailey e López de Prado (2014, JPM); Fama e French (1997, JFE).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